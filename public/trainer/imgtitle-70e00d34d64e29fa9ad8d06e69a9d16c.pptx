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D3C"/>
    <a:srgbClr val="02AA5A"/>
    <a:srgbClr val="01B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>
        <p:scale>
          <a:sx n="50" d="100"/>
          <a:sy n="50" d="100"/>
        </p:scale>
        <p:origin x="318" y="1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98FC-F97C-4BB7-B811-352C3D420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638CA-B895-46AB-B571-406C60E27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BCB45-13B2-43B0-938D-6301F7B0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E9074-4FA0-445D-B601-1B216877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3C9EC-7070-40BA-9404-013A2117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0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0CB6-9A71-436A-8E22-F429F07B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A9A40-D37E-4815-9A82-320F04F81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75647-4E6F-4A0D-AE74-F1A5922F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11A52-3142-4DF0-884B-9E365315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81223-8C2F-4767-BDFD-20172D37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4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34CC-C2C1-49B7-B86D-64433C91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34201-CA9C-43D5-AC3A-DC8C63BA5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0941C-9A6F-4136-B697-5CB2BC9A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36BCA-D4AF-447F-B979-809F2E0BB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C054-8203-4E3C-B63D-17EEA0BC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9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EEA0-2E9C-476D-9AEA-D8F60C55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53917-2930-4058-93F8-FBF325752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0E37C-F1A7-4679-995A-FECCEBAD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7FE12-1429-4429-BB15-E51B554A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A57F7-F944-4579-879B-0E53E90D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3AF7-002B-473E-9D0C-501BE04E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4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1353-8FAF-4D8E-9C98-6EA8356C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4DCE9-5936-40ED-83C1-36C408AF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C6E10-1C93-4945-84CD-B8164F4A5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CF0F0-8B15-4693-B1A9-BDA3E14AF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EB3CF-621E-4752-A712-2028A73F7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AF9AC9-B67A-4C61-BE77-B87CF6C2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BBD75-47DA-42CB-AF26-44018DD4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70ED5-95C2-4F58-A3D1-11DF53A0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2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D9E-7E41-4043-8202-648F7D1F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5CA5A-0F14-42D9-9527-E66CC02A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15E95-2F8C-486F-A700-12C7636C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89A6D-1A94-436A-AF9F-2E988722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8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98128B-3FF6-48CC-B24D-1BB84B2E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64B60-1719-4E2A-BFA6-F84F83FC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F397C-465B-4A16-A8C9-B11E5816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95BE-844F-4189-A87E-03F09FC4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0AB3-C958-44BB-A395-4FEBE30D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5AC4A-1658-4104-80F5-3FE000888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5B49E-CE83-4206-B796-6C13B885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0A65D-DB40-408C-A8C9-69C2AB03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BD320-E486-4A6C-B2ED-5B332947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4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8A802-952F-415C-A1F5-483D9BE3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F6275-5818-4626-AABE-735239C5D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E84CF-826B-4AF7-9920-17FC4E4B1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21549-1668-4797-9080-A571025F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A900C-35D3-47A7-AF49-6F660AEB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7F12A-042A-4779-AD67-49AB09B0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B5E0-3645-4D70-B2A3-212F5854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7A558-50CC-4F6F-9D75-90AF262F9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0A553-C7AD-43C3-9B83-022E0AE5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D373-39C3-48F6-8912-0827475E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BA0BB-5639-4B63-AF0C-EDECACA4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6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AB54F-B64D-4D33-A22F-CAB53A3E1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F4FAF-49B7-44A6-9A2F-05690C397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108B4-E9F3-4E63-8291-C13A49E2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126D3-076E-4EF0-9638-9735E932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F7D6-A150-4C0C-A046-4A0A644A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0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8E27E6-6558-47C6-AD90-A9CB8482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7AE9F-2B3B-4D08-9438-7C821BEEB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CA133-B090-424D-AF50-4910E5D18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94AD-56E5-4A8F-BD6A-7C625D3AA90D}" type="datetimeFigureOut">
              <a:rPr lang="en-US" smtClean="0"/>
              <a:t>01/02/2020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2121A-EDFD-40E6-A7FA-BA0989F53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FAE51-7718-416D-87D5-B9DD2C3CC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DF938-CA48-4AE4-9B97-5B8F1781E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4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DA35-CA38-4963-862A-E9380E780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4732"/>
            <a:ext cx="9144000" cy="2387600"/>
          </a:xfrm>
        </p:spPr>
        <p:txBody>
          <a:bodyPr/>
          <a:lstStyle/>
          <a:p>
            <a:r>
              <a:rPr lang="lo-LA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ຂັ້ນຕອນໃນການຢ້ຽມຢາມຮ້ານຄ້າ</a:t>
            </a:r>
            <a:br>
              <a:rPr lang="lo-LA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lo-LA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ຂອງ </a:t>
            </a:r>
            <a:r>
              <a:rPr lang="en-US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Sale OPPO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919DF-49D1-43C9-8951-10A6B712C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4407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OPPO</a:t>
            </a:r>
            <a:r>
              <a:rPr lang="lo-LA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</a:rPr>
              <a:t>手机业务拜访流程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9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155B-6A23-479B-8210-FBCCB31C4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61077" cy="4576152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lo-LA" sz="40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ໜ້າທີ່ຫຼັກຂອງເຊວຄື </a:t>
            </a:r>
            <a:r>
              <a:rPr lang="lo-LA" sz="4000" b="1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ການເພີ່ມຍອດຂາຍ </a:t>
            </a:r>
            <a:r>
              <a:rPr lang="lo-LA" sz="40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ທຸກໆເດືອນຕ້ອງ </a:t>
            </a:r>
            <a:r>
              <a:rPr lang="lo-LA" sz="4000" b="1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ຕິດຕາມເປົ້າໝາຍ </a:t>
            </a:r>
            <a:r>
              <a:rPr lang="lo-LA" sz="40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 ຂອງເຂດພື້ນທີ່ທີ່ເບີ່ງແຍງຢ່າງເຕັມທີ່ ແລະຕິດຕາມ </a:t>
            </a:r>
            <a:r>
              <a:rPr lang="lo-LA" sz="4000" b="1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ຄວາມຄືບໜ້າຂອງຍອດຂາຍໃນພື້ນທີ່ </a:t>
            </a:r>
            <a:r>
              <a:rPr lang="lo-LA" sz="40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ຫາກຍອດຂາຍບໍ່ເປັນໄປຕາມເປົ້າຕ້ອງຮີບດ່ວນຫາວິທີແກ້ໄຂ</a:t>
            </a:r>
            <a:r>
              <a:rPr lang="lo-LA" sz="4000" b="1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 </a:t>
            </a:r>
            <a:br>
              <a:rPr lang="lo-LA" sz="4000" b="1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31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业务的天职是销售，根据每月所辖区域目标全力以赴，</a:t>
            </a:r>
            <a:br>
              <a:rPr lang="lo-LA" altLang="zh-CN" sz="31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</a:br>
            <a:r>
              <a:rPr lang="zh-CN" altLang="en-US" sz="31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并跟进自己区域的销售进度调整策略。</a:t>
            </a:r>
            <a:endParaRPr lang="en-US" sz="4000" dirty="0">
              <a:solidFill>
                <a:srgbClr val="00B05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E28C2D-ECE7-4A7D-98BB-1C67B8B72CF9}"/>
              </a:ext>
            </a:extLst>
          </p:cNvPr>
          <p:cNvSpPr txBox="1">
            <a:spLocks/>
          </p:cNvSpPr>
          <p:nvPr/>
        </p:nvSpPr>
        <p:spPr>
          <a:xfrm>
            <a:off x="578825" y="4941278"/>
            <a:ext cx="11220451" cy="1551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lo-LA" sz="40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ເຂົ້າໄປຢ້ຽມຢາມໜ້າຮ້ານທຸກມື້</a:t>
            </a:r>
          </a:p>
          <a:p>
            <a:pPr algn="ctr">
              <a:lnSpc>
                <a:spcPct val="150000"/>
              </a:lnSpc>
            </a:pPr>
            <a:r>
              <a:rPr lang="zh-CN" altLang="en-US" sz="35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每日经销商拜访流程</a:t>
            </a:r>
            <a:endParaRPr lang="en-US" sz="35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21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0AC-C492-43BF-AB07-3723D403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2043967"/>
          </a:xfrm>
        </p:spPr>
        <p:txBody>
          <a:bodyPr>
            <a:normAutofit/>
          </a:bodyPr>
          <a:lstStyle/>
          <a:p>
            <a:pPr algn="ctr"/>
            <a:r>
              <a:rPr lang="lo-LA" sz="13800" dirty="0">
                <a:solidFill>
                  <a:srgbClr val="00B050"/>
                </a:solidFill>
              </a:rPr>
              <a:t>1</a:t>
            </a:r>
            <a:endParaRPr lang="en-US" sz="13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3BC7-C305-4ADF-9271-375090DE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2750"/>
            <a:ext cx="10515600" cy="23812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lo-LA" sz="72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ການກຽມຄວາມພ້ອມ</a:t>
            </a:r>
          </a:p>
          <a:p>
            <a:pPr marL="0" indent="0" algn="ctr">
              <a:buNone/>
            </a:pPr>
            <a:r>
              <a:rPr lang="ja-JP" altLang="en-US" sz="72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准备</a:t>
            </a:r>
            <a:endParaRPr lang="en-US" sz="7200" dirty="0">
              <a:solidFill>
                <a:srgbClr val="00B05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54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9F51-FFD2-4694-8B73-B5848F81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554" y="160581"/>
            <a:ext cx="8310196" cy="1325563"/>
          </a:xfrm>
        </p:spPr>
        <p:txBody>
          <a:bodyPr>
            <a:normAutofit/>
          </a:bodyPr>
          <a:lstStyle/>
          <a:p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ນະໂຍບາຍບໍລິສັດ / ຄວາມຮູ້ຜະລິດຕະພັນ / ທັດສະນະຄະຕິ</a:t>
            </a:r>
            <a:b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28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公司政策，产品知识，心态</a:t>
            </a:r>
            <a:endParaRPr lang="en-US" sz="9600" b="1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A67177-8F50-4843-A1B8-4A681CD6DB59}"/>
              </a:ext>
            </a:extLst>
          </p:cNvPr>
          <p:cNvSpPr txBox="1">
            <a:spLocks/>
          </p:cNvSpPr>
          <p:nvPr/>
        </p:nvSpPr>
        <p:spPr>
          <a:xfrm>
            <a:off x="1348161" y="1521557"/>
            <a:ext cx="80420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ທົບທວນແກ້ໄຂປັນຫາທີ່ຍັງຄ້າງຈາກການເຂົ້າໄປເບີ່ງໜ້າຮ້ານ</a:t>
            </a:r>
          </a:p>
          <a:p>
            <a:pPr algn="r"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ຂອງຄັ້ງທີ່ຜ່ານມາ (ໃບສັ່ງສິນຄ້າ ສິ່ງທີ່ຮັບປາກໄວ້ກັບລູກຄ້າ)</a:t>
            </a:r>
            <a:endParaRPr lang="en-US" sz="3100" dirty="0"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r">
              <a:lnSpc>
                <a:spcPct val="100000"/>
              </a:lnSpc>
            </a:pPr>
            <a:r>
              <a:rPr lang="zh-CN" altLang="en-US" sz="28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回顾上次访问（订单，承诺）</a:t>
            </a:r>
            <a:endParaRPr lang="en-US" sz="28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A53843-8D02-49B0-885E-52E60A01A949}"/>
              </a:ext>
            </a:extLst>
          </p:cNvPr>
          <p:cNvSpPr txBox="1">
            <a:spLocks/>
          </p:cNvSpPr>
          <p:nvPr/>
        </p:nvSpPr>
        <p:spPr>
          <a:xfrm>
            <a:off x="9390192" y="1629630"/>
            <a:ext cx="9612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B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AF93EF-AB42-4D83-A98F-5FE613265695}"/>
              </a:ext>
            </a:extLst>
          </p:cNvPr>
          <p:cNvSpPr txBox="1">
            <a:spLocks/>
          </p:cNvSpPr>
          <p:nvPr/>
        </p:nvSpPr>
        <p:spPr>
          <a:xfrm>
            <a:off x="2262554" y="3153508"/>
            <a:ext cx="80420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ຄວາມພ້ອມເລື່ອງອຸປະກອນ </a:t>
            </a:r>
            <a:r>
              <a:rPr lang="en-US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Display/POSM </a:t>
            </a: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ຕ່າງໆ</a:t>
            </a:r>
          </a:p>
          <a:p>
            <a:pPr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ທີ່ຈະນຳເຂົ້າໄປຕົກແຕ່ງໃຫ້ໜ້າຮ້ານ</a:t>
            </a:r>
            <a:endParaRPr lang="en-US" sz="3100" dirty="0"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8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所需形象物料，广告品</a:t>
            </a:r>
            <a:endParaRPr lang="en-US" sz="28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7EBD95-5B80-4EEC-AF7D-A9FB13DBE03C}"/>
              </a:ext>
            </a:extLst>
          </p:cNvPr>
          <p:cNvSpPr txBox="1">
            <a:spLocks/>
          </p:cNvSpPr>
          <p:nvPr/>
        </p:nvSpPr>
        <p:spPr>
          <a:xfrm>
            <a:off x="1348161" y="3176661"/>
            <a:ext cx="9612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C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F9B2CA-B9E1-48F0-A9B7-12CC1661B4FC}"/>
              </a:ext>
            </a:extLst>
          </p:cNvPr>
          <p:cNvSpPr txBox="1">
            <a:spLocks/>
          </p:cNvSpPr>
          <p:nvPr/>
        </p:nvSpPr>
        <p:spPr>
          <a:xfrm>
            <a:off x="1060931" y="4475474"/>
            <a:ext cx="9020915" cy="2125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ຮູ້ຍອດຂາຍແລະສະຖານະການຂາຍຂອງຮ້ານເພື່ອທີ່ຈະວາງແຜນ</a:t>
            </a:r>
          </a:p>
          <a:p>
            <a:pPr algn="ctr">
              <a:lnSpc>
                <a:spcPct val="100000"/>
              </a:lnSpc>
            </a:pPr>
            <a:r>
              <a:rPr lang="lo-LA" sz="31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ແລະລົມກັບເຈົ້າຂອງຫຼືຜູ້ຈັດການຮ້ານ ອີກທັງກວດສອບ</a:t>
            </a:r>
          </a:p>
          <a:p>
            <a:pPr algn="ctr">
              <a:lnSpc>
                <a:spcPct val="100000"/>
              </a:lnSpc>
            </a:pPr>
            <a:r>
              <a:rPr lang="lo-LA" sz="31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ເບີ່ງວ່າຮ້ານຄ້າໄດ້ຮັບຫຼືໃຊ້ສິດທິປະໂຫຍດຕ່າງໆຄົບຖ້ວນຫຼືບໍ່</a:t>
            </a:r>
            <a:endParaRPr lang="en-US" sz="31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9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经销商的销售及目标达成情况，往来帐情况</a:t>
            </a:r>
            <a:endParaRPr lang="en-US" sz="29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46DE1C7-EBA0-4CAB-8CF0-83362B496848}"/>
              </a:ext>
            </a:extLst>
          </p:cNvPr>
          <p:cNvSpPr txBox="1">
            <a:spLocks/>
          </p:cNvSpPr>
          <p:nvPr/>
        </p:nvSpPr>
        <p:spPr>
          <a:xfrm>
            <a:off x="9390192" y="5275385"/>
            <a:ext cx="9612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D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DBF5A3-0C60-495A-A99E-595FB3B580C1}"/>
              </a:ext>
            </a:extLst>
          </p:cNvPr>
          <p:cNvSpPr txBox="1">
            <a:spLocks/>
          </p:cNvSpPr>
          <p:nvPr/>
        </p:nvSpPr>
        <p:spPr>
          <a:xfrm>
            <a:off x="1301261" y="158506"/>
            <a:ext cx="9612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b="1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2907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8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0AC-C492-43BF-AB07-3723D403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2043967"/>
          </a:xfrm>
        </p:spPr>
        <p:txBody>
          <a:bodyPr>
            <a:normAutofit/>
          </a:bodyPr>
          <a:lstStyle/>
          <a:p>
            <a:pPr algn="ctr"/>
            <a:r>
              <a:rPr lang="lo-LA" sz="13800" dirty="0">
                <a:solidFill>
                  <a:srgbClr val="00B050"/>
                </a:solidFill>
              </a:rPr>
              <a:t>2</a:t>
            </a:r>
            <a:endParaRPr lang="en-US" sz="13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3BC7-C305-4ADF-9271-375090DE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171808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lo-LA" sz="72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ການເຂົ້າໄປຢ້ຽມຢາມ</a:t>
            </a:r>
            <a:endParaRPr lang="en-US" sz="7200" dirty="0">
              <a:solidFill>
                <a:srgbClr val="00B050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marL="0" indent="0" algn="ctr">
              <a:buNone/>
            </a:pPr>
            <a:r>
              <a:rPr lang="ja-JP" altLang="en-US" sz="58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拜访</a:t>
            </a:r>
            <a:endParaRPr lang="en-US" sz="5800" dirty="0">
              <a:solidFill>
                <a:srgbClr val="00B05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63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481B-C8ED-4BCF-83B0-C0AC4F24F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0191"/>
            <a:ext cx="10515600" cy="1325563"/>
          </a:xfrm>
        </p:spPr>
        <p:txBody>
          <a:bodyPr/>
          <a:lstStyle/>
          <a:p>
            <a:pPr algn="ctr"/>
            <a:r>
              <a:rPr lang="lo-LA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ການທັກທາຍ (ພາຍໃນຮ້ານ)</a:t>
            </a:r>
            <a:br>
              <a:rPr lang="en-US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36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问好（店内）</a:t>
            </a:r>
            <a:endParaRPr lang="en-US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1CB7D-B210-4408-9B71-C8AABF728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798" y="577055"/>
            <a:ext cx="3208602" cy="3208602"/>
          </a:xfrm>
        </p:spPr>
      </p:pic>
    </p:spTree>
    <p:extLst>
      <p:ext uri="{BB962C8B-B14F-4D97-AF65-F5344CB8AC3E}">
        <p14:creationId xmlns:p14="http://schemas.microsoft.com/office/powerpoint/2010/main" val="302347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9D1E3B-B1D0-4C84-BE06-FC11B0C9C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291"/>
            <a:ext cx="2294246" cy="1325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FEE12-493E-4AE5-8436-A72A11F5E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706" y="525429"/>
            <a:ext cx="2294246" cy="13255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3C8740-FFE1-4B1D-BA14-807976043F4F}"/>
              </a:ext>
            </a:extLst>
          </p:cNvPr>
          <p:cNvSpPr/>
          <p:nvPr/>
        </p:nvSpPr>
        <p:spPr>
          <a:xfrm>
            <a:off x="2108199" y="728133"/>
            <a:ext cx="1058554" cy="62653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3CFD53-F8F6-4BBB-ACF7-3FE1DC6C3E5A}"/>
              </a:ext>
            </a:extLst>
          </p:cNvPr>
          <p:cNvSpPr/>
          <p:nvPr/>
        </p:nvSpPr>
        <p:spPr>
          <a:xfrm>
            <a:off x="2108199" y="1354667"/>
            <a:ext cx="1058554" cy="6265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OPPO Sans Medium" panose="00000600000000000000" pitchFamily="2" charset="0"/>
                <a:ea typeface="OPPO Sans Medium" panose="00000600000000000000" pitchFamily="2" charset="0"/>
              </a:rPr>
              <a:t>OPPO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67F9104B-D405-4A97-8749-EAEC54E4280C}"/>
              </a:ext>
            </a:extLst>
          </p:cNvPr>
          <p:cNvSpPr/>
          <p:nvPr/>
        </p:nvSpPr>
        <p:spPr>
          <a:xfrm>
            <a:off x="2108199" y="319435"/>
            <a:ext cx="1058554" cy="411988"/>
          </a:xfrm>
          <a:prstGeom prst="round2Same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DBB540A8-66F4-4758-9D4D-6A5DBCC5BE13}"/>
              </a:ext>
            </a:extLst>
          </p:cNvPr>
          <p:cNvSpPr/>
          <p:nvPr/>
        </p:nvSpPr>
        <p:spPr>
          <a:xfrm>
            <a:off x="5274952" y="186266"/>
            <a:ext cx="6248400" cy="2015067"/>
          </a:xfrm>
          <a:prstGeom prst="wedgeRoundRectCallout">
            <a:avLst>
              <a:gd name="adj1" fmla="val -55111"/>
              <a:gd name="adj2" fmla="val 21388"/>
              <a:gd name="adj3" fmla="val 16667"/>
            </a:avLst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Display / </a:t>
            </a: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ຕຳແໜ່ງຂອງຕູ້ຫຼືໂຕະ / ມາດຕະຖານການຈັດຮຽງ </a:t>
            </a:r>
            <a: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POSM</a:t>
            </a: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形象，柜台卫生，陈列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F2F384E5-4A04-422C-8614-6157FFC7E5BA}"/>
              </a:ext>
            </a:extLst>
          </p:cNvPr>
          <p:cNvSpPr/>
          <p:nvPr/>
        </p:nvSpPr>
        <p:spPr>
          <a:xfrm>
            <a:off x="224696" y="3649134"/>
            <a:ext cx="6248400" cy="2015067"/>
          </a:xfrm>
          <a:prstGeom prst="wedgeRoundRectCallout">
            <a:avLst>
              <a:gd name="adj1" fmla="val 57897"/>
              <a:gd name="adj2" fmla="val 20548"/>
              <a:gd name="adj3" fmla="val 16667"/>
            </a:avLst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ໂປສເຕີ້ປະກາດລາຄາພິເສດ</a:t>
            </a:r>
          </a:p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ຫຼືສິນຄ້າລຸ້ນໃໝ່</a:t>
            </a:r>
            <a:endParaRPr lang="en-US" sz="3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新品及特价海报张贴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17" name="Star: 10 Points 16">
            <a:extLst>
              <a:ext uri="{FF2B5EF4-FFF2-40B4-BE49-F238E27FC236}">
                <a16:creationId xmlns:a16="http://schemas.microsoft.com/office/drawing/2014/main" id="{7F459060-922D-42BE-B00D-2D0FC4583DF6}"/>
              </a:ext>
            </a:extLst>
          </p:cNvPr>
          <p:cNvSpPr/>
          <p:nvPr/>
        </p:nvSpPr>
        <p:spPr>
          <a:xfrm>
            <a:off x="9601200" y="4013200"/>
            <a:ext cx="1710267" cy="1710267"/>
          </a:xfrm>
          <a:prstGeom prst="star10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NEW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2F424C-8D43-41EB-B0B6-E683898E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228" y="4121656"/>
            <a:ext cx="1710267" cy="160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5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DBB540A8-66F4-4758-9D4D-6A5DBCC5BE13}"/>
              </a:ext>
            </a:extLst>
          </p:cNvPr>
          <p:cNvSpPr/>
          <p:nvPr/>
        </p:nvSpPr>
        <p:spPr>
          <a:xfrm>
            <a:off x="3877733" y="186266"/>
            <a:ext cx="7645619" cy="2015067"/>
          </a:xfrm>
          <a:prstGeom prst="wedgeRoundRectCallout">
            <a:avLst>
              <a:gd name="adj1" fmla="val -55111"/>
              <a:gd name="adj2" fmla="val 21388"/>
              <a:gd name="adj3" fmla="val 16667"/>
            </a:avLst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ປັນຫາທີ່ພົບຈາກການເຂົ້າຢ້ຽມຢາມຮ້ານຂອງຄັ້ງທີ່ຜ່ານມາ ຈັດການຮຽບຮ້ອບແລ້ວຫຼືຍັງ</a:t>
            </a:r>
            <a:endParaRPr lang="en-US" sz="3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上次拜访的问题或承诺做好兑现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E6F667-2A6F-4BB2-98B6-15586A5C3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15" y="619075"/>
            <a:ext cx="1473201" cy="147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4D1B4B-343C-45A9-92A5-63A57E2D8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600" y="2613142"/>
            <a:ext cx="1668800" cy="163171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E471A7-12B6-464D-966B-42C52FDC0E79}"/>
              </a:ext>
            </a:extLst>
          </p:cNvPr>
          <p:cNvSpPr/>
          <p:nvPr/>
        </p:nvSpPr>
        <p:spPr>
          <a:xfrm>
            <a:off x="59266" y="4436532"/>
            <a:ext cx="12073467" cy="2421467"/>
          </a:xfrm>
          <a:prstGeom prst="rect">
            <a:avLst/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0475DB7-13DF-4E6A-87D2-B45ED734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52" y="5346171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ຕ້ອງຮູ້ຂໍ້ມູນການສັ່ງຊື້ສິນຄ້າ ການຂາຍສິນຄ້າ ສະຕ໋ອກສິນຄ້າ </a:t>
            </a:r>
            <a: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OPPO </a:t>
            </a: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ຂອງລູກຄ້າ ແລະຍອດຂາຍລວມຂອງຮ້ານແລະຝ່າຍຄູ່ແຂ່ງເພື່ອທີ່ຈະເຮັດການຈັດການເບີ່ງແຍງ </a:t>
            </a:r>
            <a: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Stock </a:t>
            </a: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ໃຫ້ກັບຮ້ານຄ້າໄດ້</a:t>
            </a:r>
            <a:b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了解</a:t>
            </a:r>
            <a:r>
              <a:rPr lang="en-US" altLang="zh-CN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OPPO</a:t>
            </a:r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进销存数据和门店销售总量及对手销量</a:t>
            </a:r>
            <a:b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068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1B8686-6F07-47A0-9802-E1BAB706B95A}"/>
              </a:ext>
            </a:extLst>
          </p:cNvPr>
          <p:cNvSpPr/>
          <p:nvPr/>
        </p:nvSpPr>
        <p:spPr>
          <a:xfrm>
            <a:off x="2624667" y="512233"/>
            <a:ext cx="9567333" cy="2065867"/>
          </a:xfrm>
          <a:prstGeom prst="roundRect">
            <a:avLst/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ແນະນຳສິນຄ້າລຸ້ນໃໝ່ ແນະນຳເລື່ອງການຈັດການສະຕ໋ອກສິນຄ້າ</a:t>
            </a:r>
          </a:p>
          <a:p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ແລະການສັ່ງຊື້ສິນຄ້າໃຫ້ກັບລູກຄ້າ</a:t>
            </a:r>
            <a:endParaRPr lang="en-US" sz="3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新款介绍并根据库存做出建议调货或下订单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E007A9-602B-4495-843D-4173A82405DF}"/>
              </a:ext>
            </a:extLst>
          </p:cNvPr>
          <p:cNvSpPr/>
          <p:nvPr/>
        </p:nvSpPr>
        <p:spPr>
          <a:xfrm>
            <a:off x="0" y="4095749"/>
            <a:ext cx="10058400" cy="2065867"/>
          </a:xfrm>
          <a:prstGeom prst="roundRect">
            <a:avLst/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lo-LA" sz="32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ຫຼັງຈາກລູກຄ້າຢືນຢັນການສັ່ງສິນຄ້າແລ້ວໃຫ້ຕິດຕາມເລື່ອງການໂອນເງິນແຈ້ງໃຫ້ຝ່າຍທີ່ກ່ຽວຂ້ອງເຊັກວ່າລູກຄ້າໂອນເງິນແລ້ວ</a:t>
            </a:r>
          </a:p>
          <a:p>
            <a:pPr algn="r"/>
            <a:r>
              <a:rPr lang="lo-LA" sz="3200" dirty="0"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ແລະໃຫ້ຈັດສົ່ງສິນຄ້າໃຫ້ກັບລູກຄ້າ</a:t>
            </a:r>
            <a:endParaRPr lang="en-US" sz="3200" dirty="0"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r"/>
            <a:r>
              <a:rPr lang="zh-CN" altLang="en-US" sz="3200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确认订单后督促打款，及时通知助理查款并发货</a:t>
            </a:r>
            <a:endParaRPr lang="en-US" sz="3200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315B4-FB64-4DD8-9F77-BA0E29313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10" y="512233"/>
            <a:ext cx="1684859" cy="2065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012B1-7B45-4E9A-84E7-BF014B7EC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6" y="4224865"/>
            <a:ext cx="1807634" cy="180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2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7FF57B-A186-48B9-BBDF-D62B0745DCAB}"/>
              </a:ext>
            </a:extLst>
          </p:cNvPr>
          <p:cNvSpPr/>
          <p:nvPr/>
        </p:nvSpPr>
        <p:spPr>
          <a:xfrm>
            <a:off x="0" y="1663171"/>
            <a:ext cx="12192000" cy="2133600"/>
          </a:xfrm>
          <a:prstGeom prst="rect">
            <a:avLst/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833C7DB-7B9C-433D-AC07-FFD0ACC0A652}"/>
              </a:ext>
            </a:extLst>
          </p:cNvPr>
          <p:cNvSpPr/>
          <p:nvPr/>
        </p:nvSpPr>
        <p:spPr>
          <a:xfrm>
            <a:off x="1695450" y="4068234"/>
            <a:ext cx="7524750" cy="2015067"/>
          </a:xfrm>
          <a:prstGeom prst="wedgeRoundRectCallout">
            <a:avLst>
              <a:gd name="adj1" fmla="val 57897"/>
              <a:gd name="adj2" fmla="val 20548"/>
              <a:gd name="adj3" fmla="val 16667"/>
            </a:avLst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ອົບຮົມຄວາມຮູ້ຜະລິດຕະພັນແລະຈຸດຂາຍຫຼັກໆ</a:t>
            </a:r>
          </a:p>
          <a:p>
            <a:pPr algn="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ໃຫ້ກັບພະນັກງານຫຼືຜູ້ຈັດການຮ້ານຟັງ</a:t>
            </a:r>
          </a:p>
          <a:p>
            <a:pPr algn="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ເພີ່ມສັກກະຍະພາບການຂາຍ</a:t>
            </a:r>
            <a:endParaRPr lang="en-US" sz="3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r"/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产品知识交流并协助销售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7AF24-37DC-42F7-A940-862537C85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57" y="135732"/>
            <a:ext cx="1639685" cy="1391708"/>
          </a:xfrm>
          <a:prstGeom prst="rect">
            <a:avLst/>
          </a:prstGeom>
        </p:spPr>
      </p:pic>
      <p:sp>
        <p:nvSpPr>
          <p:cNvPr id="8" name="Title 17">
            <a:extLst>
              <a:ext uri="{FF2B5EF4-FFF2-40B4-BE49-F238E27FC236}">
                <a16:creationId xmlns:a16="http://schemas.microsoft.com/office/drawing/2014/main" id="{19EC2870-AB1D-4BBD-8C3B-9951B074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6718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ຮັບຟັງຄວາມຄິດເຫັນແລະປະສົບການຂອງລູກຄ້າ</a:t>
            </a:r>
            <a:b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ແລະເຮັດການຈົດບັນທຶກໄວ້ເພື່ອແກ້ໄຂຫຼືນຳໄປໃຊ້</a:t>
            </a:r>
            <a:b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(ສິ່ງໃດທີ່ສາມາດແກ້ໄຂໄດ້ກ່ອນ ໃຫ້ແກ້ໄຂໃຫ້ໄວທີ່ສຸດ)</a:t>
            </a:r>
            <a:b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24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倾听经销商的意见及经验并认真做好记录（能当场解决的要尽快解决处理）</a:t>
            </a:r>
            <a:endParaRPr lang="en-US" sz="32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0F27A-3C24-4210-8E50-498A80A6E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850" y="4200789"/>
            <a:ext cx="2000250" cy="2000250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A3B690C7-0744-49E9-A2CB-C2E4350F254F}"/>
              </a:ext>
            </a:extLst>
          </p:cNvPr>
          <p:cNvSpPr/>
          <p:nvPr/>
        </p:nvSpPr>
        <p:spPr>
          <a:xfrm>
            <a:off x="2203231" y="1722436"/>
            <a:ext cx="7645619" cy="2015067"/>
          </a:xfrm>
          <a:prstGeom prst="wedgeRoundRectCallout">
            <a:avLst>
              <a:gd name="adj1" fmla="val -55111"/>
              <a:gd name="adj2" fmla="val 21388"/>
              <a:gd name="adj3" fmla="val 16667"/>
            </a:avLst>
          </a:prstGeom>
          <a:solidFill>
            <a:srgbClr val="02A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ຕ້ອງຫາຕຳແໜ່ງທີ່ດີທີ່ສຸດມາເຮັດ </a:t>
            </a:r>
            <a:r>
              <a:rPr lang="en-US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Display </a:t>
            </a:r>
            <a:r>
              <a:rPr lang="lo-LA" sz="3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ໃຫ້ໄດ້</a:t>
            </a:r>
            <a:endParaRPr lang="en-US" sz="3200" dirty="0">
              <a:solidFill>
                <a:schemeClr val="bg1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时刻寻找最佳位置思考是否可投入广告</a:t>
            </a:r>
            <a:endParaRPr lang="en-US" sz="3200" dirty="0">
              <a:solidFill>
                <a:schemeClr val="bg1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79DE2F-4A2A-4642-A61B-0C3822C91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803" y="2416522"/>
            <a:ext cx="1473201" cy="147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5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8" grpId="0"/>
      <p:bldP spid="8" grpId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1B66-0E15-482F-99FE-BC9BAF82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627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ຄິດພິຈາລະນາວ່າວິທີໃດທີ່ຈະເຮັດໃຫ້ຍອດຂາຍ </a:t>
            </a:r>
            <a:r>
              <a:rPr lang="en-US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OPPO</a:t>
            </a:r>
            <a:br>
              <a:rPr lang="en-US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ໃນຮ້ານສາມາດເຮັດໃຫ້ມີຍອດຂາຍທີ່ສູງຂື້ນ</a:t>
            </a:r>
            <a:br>
              <a:rPr lang="en-US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36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思考如何会使该售点</a:t>
            </a:r>
            <a:r>
              <a:rPr lang="en-US" altLang="zh-CN" sz="36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OPPO</a:t>
            </a:r>
            <a:r>
              <a:rPr lang="zh-CN" altLang="en-US" sz="36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销量再上一个台阶</a:t>
            </a:r>
            <a:endParaRPr lang="en-US" sz="3600" dirty="0">
              <a:solidFill>
                <a:srgbClr val="017D3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49440-DD52-4B94-A13A-B47F8EDA1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095" y="122033"/>
            <a:ext cx="1467205" cy="1500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2682BC-17C4-4D0F-AC20-2723D991A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4094" y="3753511"/>
            <a:ext cx="1467205" cy="11004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FFF74FC-E70A-482D-9DCF-2EAA894C6797}"/>
              </a:ext>
            </a:extLst>
          </p:cNvPr>
          <p:cNvSpPr txBox="1">
            <a:spLocks/>
          </p:cNvSpPr>
          <p:nvPr/>
        </p:nvSpPr>
        <p:spPr>
          <a:xfrm>
            <a:off x="0" y="5089525"/>
            <a:ext cx="12192000" cy="1646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ກວດສອບວ່າການເຂົ້າຢ້ຽມຢາມຮ້ານໃນຄັ້ງນີ້ເປັນແນວໃດມີຫຍັງຂາດຕົກບົກຜ່ອງ ຫຼືປັນຫາຫຍັງທີ່ຍັງຄົງຄ້າງຢູ່ ໃຫ້ຮີບຈັດການຫາວິທີແກ້ໄຂ</a:t>
            </a:r>
            <a:endParaRPr lang="en-US" sz="3600" dirty="0">
              <a:solidFill>
                <a:srgbClr val="017D3C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algn="ctr"/>
            <a:r>
              <a:rPr lang="zh-CN" altLang="en-US" sz="32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检查本次拜访达成情况及调整，业务基础工作是否已达标</a:t>
            </a:r>
            <a:endParaRPr lang="en-US" sz="3200" dirty="0">
              <a:solidFill>
                <a:srgbClr val="017D3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7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0AC-C492-43BF-AB07-3723D403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2043967"/>
          </a:xfrm>
        </p:spPr>
        <p:txBody>
          <a:bodyPr>
            <a:normAutofit/>
          </a:bodyPr>
          <a:lstStyle/>
          <a:p>
            <a:pPr algn="ctr"/>
            <a:r>
              <a:rPr lang="lo-LA" sz="13800" dirty="0">
                <a:solidFill>
                  <a:srgbClr val="00B050"/>
                </a:solidFill>
              </a:rPr>
              <a:t>3</a:t>
            </a:r>
            <a:endParaRPr lang="en-US" sz="13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3BC7-C305-4ADF-9271-375090DEF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lo-LA" sz="7200" dirty="0">
                <a:solidFill>
                  <a:srgbClr val="00B050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ສະຫຼຸບ</a:t>
            </a:r>
            <a:endParaRPr lang="en-US" sz="7200" dirty="0">
              <a:solidFill>
                <a:srgbClr val="00B050"/>
              </a:solidFill>
              <a:latin typeface="Roboto" pitchFamily="2" charset="0"/>
              <a:ea typeface="Roboto" pitchFamily="2" charset="0"/>
              <a:cs typeface="Noto Sans Lao" panose="020B0502040504020204" pitchFamily="34" charset="0"/>
            </a:endParaRPr>
          </a:p>
          <a:p>
            <a:pPr marL="0" indent="0" algn="ctr">
              <a:buNone/>
            </a:pPr>
            <a:r>
              <a:rPr lang="ja-JP" altLang="en-US" sz="4300" dirty="0">
                <a:solidFill>
                  <a:srgbClr val="00B05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总结</a:t>
            </a:r>
            <a:endParaRPr lang="en-US" sz="4300" dirty="0">
              <a:solidFill>
                <a:srgbClr val="00B05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91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8C39-B9DE-48DA-9E45-AFAED6E2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50875"/>
            <a:ext cx="10515600" cy="1524000"/>
          </a:xfrm>
        </p:spPr>
        <p:txBody>
          <a:bodyPr>
            <a:normAutofit fontScale="90000"/>
          </a:bodyPr>
          <a:lstStyle/>
          <a:p>
            <a:pPr algn="ctr"/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ຈົດບັນທຶກປັນຫາທີ່ພົບໃນການຢ້ຽມຢາມຢ່າງຈິງຈັງ</a:t>
            </a:r>
            <a:b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ແລະຫາແນວທາງແລ້ວແກ້ໄຂປັນຫາ</a:t>
            </a:r>
            <a:br>
              <a:rPr lang="en-US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</a:br>
            <a:r>
              <a:rPr lang="zh-CN" altLang="en-US" sz="36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认真记录本次拜访所有问题及解决方案并寻求解决方案</a:t>
            </a:r>
            <a:endParaRPr lang="en-US" sz="3600" dirty="0">
              <a:solidFill>
                <a:srgbClr val="017D3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ECC65-4CC0-4D8A-A9A9-8D2C99B46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2667000"/>
            <a:ext cx="2143125" cy="1524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EC86344-A935-4DEB-A8B6-D63E3AEBBD35}"/>
              </a:ext>
            </a:extLst>
          </p:cNvPr>
          <p:cNvSpPr txBox="1">
            <a:spLocks/>
          </p:cNvSpPr>
          <p:nvPr/>
        </p:nvSpPr>
        <p:spPr>
          <a:xfrm>
            <a:off x="590550" y="4881562"/>
            <a:ext cx="11296650" cy="1747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ແຜນການເຂົ້າຢ້ຽມຢາມຮ້ານໃນຄັ້ງຕໍ່ໄປ</a:t>
            </a:r>
          </a:p>
          <a:p>
            <a:pPr algn="ctr"/>
            <a:r>
              <a:rPr lang="lo-LA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(ຕ້ອງແກ້ໄຂປັນຫາຫຍັງແດ່, ວັດສະດຸອຸປະກອນທີ່ຕ້ອງການ, ຄວາມມຸ່ງໝັ້ນ</a:t>
            </a:r>
            <a:r>
              <a:rPr lang="en-US" sz="3600" dirty="0">
                <a:solidFill>
                  <a:srgbClr val="017D3C"/>
                </a:solidFill>
                <a:latin typeface="Roboto" pitchFamily="2" charset="0"/>
                <a:ea typeface="Roboto" pitchFamily="2" charset="0"/>
                <a:cs typeface="Noto Sans Lao" panose="020B0502040504020204" pitchFamily="34" charset="0"/>
              </a:rPr>
              <a:t>)</a:t>
            </a:r>
          </a:p>
          <a:p>
            <a:pPr algn="ctr"/>
            <a:r>
              <a:rPr lang="zh-CN" altLang="en-US" sz="3000" dirty="0">
                <a:solidFill>
                  <a:srgbClr val="017D3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Noto Sans Lao" panose="020B0502040504020204" pitchFamily="34" charset="0"/>
              </a:rPr>
              <a:t>下次拜访计划（解决什么问题，所需物料，承诺）</a:t>
            </a:r>
            <a:endParaRPr lang="en-US" sz="3000" dirty="0">
              <a:solidFill>
                <a:srgbClr val="017D3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Noto Sans Lao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6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897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YaHei UI Light</vt:lpstr>
      <vt:lpstr>Arial</vt:lpstr>
      <vt:lpstr>Calibri</vt:lpstr>
      <vt:lpstr>Calibri Light</vt:lpstr>
      <vt:lpstr>OPPO Sans Medium</vt:lpstr>
      <vt:lpstr>Roboto</vt:lpstr>
      <vt:lpstr>Office Theme</vt:lpstr>
      <vt:lpstr>ຂັ້ນຕອນໃນການຢ້ຽມຢາມຮ້ານຄ້າ ຂອງ Sale OPPO</vt:lpstr>
      <vt:lpstr>ໜ້າທີ່ຫຼັກຂອງເຊວຄື ການເພີ່ມຍອດຂາຍ ທຸກໆເດືອນຕ້ອງ ຕິດຕາມເປົ້າໝາຍ  ຂອງເຂດພື້ນທີ່ທີ່ເບີ່ງແຍງຢ່າງເຕັມທີ່ ແລະຕິດຕາມ ຄວາມຄືບໜ້າຂອງຍອດຂາຍໃນພື້ນທີ່ ຫາກຍອດຂາຍບໍ່ເປັນໄປຕາມເປົ້າຕ້ອງຮີບດ່ວນຫາວິທີແກ້ໄຂ  业务的天职是销售，根据每月所辖区域目标全力以赴， 并跟进自己区域的销售进度调整策略。</vt:lpstr>
      <vt:lpstr>1</vt:lpstr>
      <vt:lpstr>ນະໂຍບາຍບໍລິສັດ / ຄວາມຮູ້ຜະລິດຕະພັນ / ທັດສະນະຄະຕິ 公司政策，产品知识，心态</vt:lpstr>
      <vt:lpstr>2</vt:lpstr>
      <vt:lpstr>ການທັກທາຍ (ພາຍໃນຮ້ານ) 问好（店内）</vt:lpstr>
      <vt:lpstr>PowerPoint Presentation</vt:lpstr>
      <vt:lpstr>ຕ້ອງຮູ້ຂໍ້ມູນການສັ່ງຊື້ສິນຄ້າ ການຂາຍສິນຄ້າ ສະຕ໋ອກສິນຄ້າ OPPO ຂອງລູກຄ້າ ແລະຍອດຂາຍລວມຂອງຮ້ານແລະຝ່າຍຄູ່ແຂ່ງເພື່ອທີ່ຈະເຮັດການຈັດການເບີ່ງແຍງ Stock ໃຫ້ກັບຮ້ານຄ້າໄດ້ 了解OPPO进销存数据和门店销售总量及对手销量 </vt:lpstr>
      <vt:lpstr>PowerPoint Presentation</vt:lpstr>
      <vt:lpstr>ຮັບຟັງຄວາມຄິດເຫັນແລະປະສົບການຂອງລູກຄ້າ ແລະເຮັດການຈົດບັນທຶກໄວ້ເພື່ອແກ້ໄຂຫຼືນຳໄປໃຊ້ (ສິ່ງໃດທີ່ສາມາດແກ້ໄຂໄດ້ກ່ອນ ໃຫ້ແກ້ໄຂໃຫ້ໄວທີ່ສຸດ) 倾听经销商的意见及经验并认真做好记录（能当场解决的要尽快解决处理）</vt:lpstr>
      <vt:lpstr>ຄິດພິຈາລະນາວ່າວິທີໃດທີ່ຈະເຮັດໃຫ້ຍອດຂາຍ OPPO ໃນຮ້ານສາມາດເຮັດໃຫ້ມີຍອດຂາຍທີ່ສູງຂື້ນ 思考如何会使该售点OPPO销量再上一个台阶</vt:lpstr>
      <vt:lpstr>3</vt:lpstr>
      <vt:lpstr>ຈົດບັນທຶກປັນຫາທີ່ພົບໃນການຢ້ຽມຢາມຢ່າງຈິງຈັງ ແລະຫາແນວທາງແລ້ວແກ້ໄຂປັນຫາ 认真记录本次拜访所有问题及解决方案并寻求解决方案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ຂັ້ນຕອນໃນການຢ້ຽມຢາມຮ້ານຄ້າ ຂອງ Sale OPPO</dc:title>
  <dc:creator>JOHNNY</dc:creator>
  <cp:lastModifiedBy>JOHNNY</cp:lastModifiedBy>
  <cp:revision>93</cp:revision>
  <dcterms:created xsi:type="dcterms:W3CDTF">2020-02-01T02:31:29Z</dcterms:created>
  <dcterms:modified xsi:type="dcterms:W3CDTF">2020-02-01T05:05:42Z</dcterms:modified>
</cp:coreProperties>
</file>